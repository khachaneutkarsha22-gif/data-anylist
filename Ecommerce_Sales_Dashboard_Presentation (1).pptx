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6" r:id="rId3"/>
    <p:sldId id="265" r:id="rId4"/>
    <p:sldId id="263" r:id="rId5"/>
    <p:sldId id="257" r:id="rId6"/>
    <p:sldId id="258" r:id="rId7"/>
    <p:sldId id="259" r:id="rId8"/>
    <p:sldId id="260" r:id="rId9"/>
    <p:sldId id="261" r:id="rId10"/>
    <p:sldId id="262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84985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91781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04768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23892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74175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16518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28736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73326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86296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22157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8085239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46674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9773452"/>
      </p:ext>
    </p:extLst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79738"/>
      </p:ext>
    </p:extLst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75534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67519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ransition spd="slow">
    <p:cover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Ecommerce</a:t>
            </a:r>
            <a:r>
              <a:rPr dirty="0"/>
              <a:t>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A concise overview of sales performance, profit trends, and customer insights.</a:t>
            </a: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AE81A5-0544-0562-F4A4-F652DEF7B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9746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8FB668-18CA-7416-6D77-BF40563B5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045" y="1731048"/>
            <a:ext cx="5425910" cy="8916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3F2B38-FF41-BBA3-5BE1-DE4334C564E1}"/>
              </a:ext>
            </a:extLst>
          </p:cNvPr>
          <p:cNvSpPr txBox="1"/>
          <p:nvPr/>
        </p:nvSpPr>
        <p:spPr>
          <a:xfrm>
            <a:off x="1036320" y="227429"/>
            <a:ext cx="900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+mj-lt"/>
              </a:rPr>
              <a:t>KPI Overview (Executive </a:t>
            </a:r>
            <a:r>
              <a:rPr lang="en-IN" sz="3600" dirty="0">
                <a:latin typeface="+mj-lt"/>
                <a:cs typeface="Times New Roman" panose="02020603050405020304" pitchFamily="18" charset="0"/>
              </a:rPr>
              <a:t>Summary</a:t>
            </a:r>
            <a:r>
              <a:rPr lang="en-IN" sz="3600" dirty="0">
                <a:latin typeface="+mj-lt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A27E5-0925-D720-34B9-B016E8171EA0}"/>
              </a:ext>
            </a:extLst>
          </p:cNvPr>
          <p:cNvSpPr txBox="1"/>
          <p:nvPr/>
        </p:nvSpPr>
        <p:spPr>
          <a:xfrm>
            <a:off x="1859045" y="3393440"/>
            <a:ext cx="8534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 (Body)"/>
              </a:rPr>
              <a:t>Sum of Amount :- It is indicating the total amount </a:t>
            </a:r>
            <a:br>
              <a:rPr lang="en-US" b="1" dirty="0">
                <a:latin typeface="Calibri (Body)"/>
              </a:rPr>
            </a:br>
            <a:endParaRPr lang="en-US" b="1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 (Body)"/>
              </a:rPr>
              <a:t>Sum of Quantity :- It was indicting the total 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 (Body)"/>
              </a:rPr>
              <a:t>Sum of Profit        :- It was indicating the total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 (Body)"/>
              </a:rPr>
              <a:t>Sum of AOV         :- It was indicating the total AOV</a:t>
            </a:r>
            <a:endParaRPr lang="en-IN" b="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19717064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and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520" y="4399003"/>
            <a:ext cx="701313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400"/>
            </a:pPr>
            <a:r>
              <a:rPr dirty="0"/>
              <a:t>• </a:t>
            </a:r>
            <a:r>
              <a:rPr sz="1600" b="1" dirty="0"/>
              <a:t>Interactive filters for Quarter (Q1–Q4) and State allow focused analysis.</a:t>
            </a:r>
            <a:endParaRPr lang="en-US" sz="1600" b="1" dirty="0"/>
          </a:p>
          <a:p>
            <a:pPr algn="l">
              <a:defRPr sz="1400"/>
            </a:pPr>
            <a:br>
              <a:rPr sz="1600" b="1" dirty="0"/>
            </a:br>
            <a:r>
              <a:rPr sz="1600" b="1" dirty="0"/>
              <a:t>• Insight: Enables easy comparison of performance across periods and locations.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4F74CC-DF83-E4D5-8AD9-FDA6D6983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853" y="1940682"/>
            <a:ext cx="4534293" cy="232430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 of Amount by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678" y="4221162"/>
            <a:ext cx="7228261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dirty="0"/>
          </a:p>
          <a:p>
            <a:pPr algn="l">
              <a:defRPr sz="1400"/>
            </a:pPr>
            <a:r>
              <a:rPr sz="1600" b="1" dirty="0">
                <a:cs typeface="Times New Roman" panose="02020603050405020304" pitchFamily="18" charset="0"/>
              </a:rPr>
              <a:t>• X-axis: State</a:t>
            </a:r>
            <a:endParaRPr lang="en-US" sz="1600" b="1" dirty="0">
              <a:cs typeface="Times New Roman" panose="02020603050405020304" pitchFamily="18" charset="0"/>
            </a:endParaRPr>
          </a:p>
          <a:p>
            <a:pPr algn="l">
              <a:defRPr sz="1400"/>
            </a:pPr>
            <a:endParaRPr lang="en-US" sz="1600" b="1" dirty="0">
              <a:cs typeface="Times New Roman" panose="02020603050405020304" pitchFamily="18" charset="0"/>
            </a:endParaRPr>
          </a:p>
          <a:p>
            <a:pPr algn="l">
              <a:defRPr sz="1400"/>
            </a:pPr>
            <a:r>
              <a:rPr sz="1600" b="1" dirty="0">
                <a:cs typeface="Times New Roman" panose="02020603050405020304" pitchFamily="18" charset="0"/>
              </a:rPr>
              <a:t>• Y-axis: Total Sales Amount</a:t>
            </a:r>
            <a:endParaRPr lang="en-US" sz="1600" b="1" dirty="0">
              <a:cs typeface="Times New Roman" panose="02020603050405020304" pitchFamily="18" charset="0"/>
            </a:endParaRPr>
          </a:p>
          <a:p>
            <a:pPr algn="l">
              <a:defRPr sz="1400"/>
            </a:pPr>
            <a:br>
              <a:rPr sz="1600" b="1" dirty="0">
                <a:cs typeface="Times New Roman" panose="02020603050405020304" pitchFamily="18" charset="0"/>
              </a:rPr>
            </a:br>
            <a:r>
              <a:rPr sz="1600" b="1" dirty="0">
                <a:cs typeface="Times New Roman" panose="02020603050405020304" pitchFamily="18" charset="0"/>
              </a:rPr>
              <a:t>• Insight: All sales occurred in Haryana (₹1804), suggesting regional concentration. </a:t>
            </a:r>
            <a:endParaRPr lang="en-US" sz="1600" b="1" dirty="0">
              <a:cs typeface="Times New Roman" panose="02020603050405020304" pitchFamily="18" charset="0"/>
            </a:endParaRPr>
          </a:p>
          <a:p>
            <a:pPr algn="l">
              <a:defRPr sz="1400"/>
            </a:pPr>
            <a:r>
              <a:rPr lang="en-US" sz="1600" b="1" dirty="0">
                <a:cs typeface="Times New Roman" panose="02020603050405020304" pitchFamily="18" charset="0"/>
              </a:rPr>
              <a:t>                </a:t>
            </a:r>
            <a:r>
              <a:rPr sz="1600" b="1" dirty="0">
                <a:cs typeface="Times New Roman" panose="02020603050405020304" pitchFamily="18" charset="0"/>
              </a:rPr>
              <a:t>Expanding to other states could increase reach.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E3344F-C8C3-1E4B-4A16-0CA208A21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738" y="1686560"/>
            <a:ext cx="3249742" cy="226568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 of Quantity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940" y="4122265"/>
            <a:ext cx="782586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b="1" dirty="0"/>
          </a:p>
          <a:p>
            <a:pPr algn="l">
              <a:defRPr sz="1400"/>
            </a:pPr>
            <a:r>
              <a:rPr sz="1600" b="1" dirty="0"/>
              <a:t>• Each slice represents a product category.</a:t>
            </a:r>
            <a:endParaRPr lang="en-US" sz="1600" b="1" dirty="0"/>
          </a:p>
          <a:p>
            <a:pPr algn="l">
              <a:defRPr sz="1400"/>
            </a:pPr>
            <a:br>
              <a:rPr sz="1600" b="1" dirty="0"/>
            </a:br>
            <a:r>
              <a:rPr sz="1600" b="1" dirty="0"/>
              <a:t>• Insight: Clothing dominates with 57% of sales quantity, followed by Furniture (32%) and </a:t>
            </a:r>
            <a:endParaRPr lang="en-US" sz="1600" b="1" dirty="0"/>
          </a:p>
          <a:p>
            <a:pPr algn="l">
              <a:defRPr sz="1400"/>
            </a:pPr>
            <a:r>
              <a:rPr lang="en-US" sz="1600" b="1" dirty="0"/>
              <a:t>                  </a:t>
            </a:r>
            <a:r>
              <a:rPr sz="1600" b="1" dirty="0"/>
              <a:t>Electronics (11%).Indicates strong demand in apparel.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243FF-EC95-DB34-B04F-4A98A93D3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07" y="1828800"/>
            <a:ext cx="2591025" cy="1882303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Profit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9871" y="4429760"/>
            <a:ext cx="6380080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b="1" dirty="0">
              <a:cs typeface="Times New Roman" panose="02020603050405020304" pitchFamily="18" charset="0"/>
            </a:endParaRPr>
          </a:p>
          <a:p>
            <a:pPr algn="l">
              <a:defRPr sz="1400"/>
            </a:pPr>
            <a:r>
              <a:rPr sz="1600" b="1" dirty="0"/>
              <a:t>• X-axis: Months (July–November)</a:t>
            </a:r>
            <a:endParaRPr lang="en-US" sz="1600" b="1" dirty="0"/>
          </a:p>
          <a:p>
            <a:pPr algn="l">
              <a:defRPr sz="1400"/>
            </a:pPr>
            <a:br>
              <a:rPr sz="1600" b="1" dirty="0"/>
            </a:br>
            <a:r>
              <a:rPr sz="1600" b="1" dirty="0"/>
              <a:t>• Y-axis: Profit Amount</a:t>
            </a:r>
            <a:endParaRPr lang="en-US" sz="1600" b="1" dirty="0"/>
          </a:p>
          <a:p>
            <a:pPr algn="l">
              <a:defRPr sz="1400"/>
            </a:pPr>
            <a:br>
              <a:rPr sz="1600" b="1" dirty="0"/>
            </a:br>
            <a:r>
              <a:rPr sz="1600" b="1" dirty="0"/>
              <a:t>• Insight: Profit declined in August but rebounded sharply by November. </a:t>
            </a:r>
            <a:endParaRPr lang="en-US" sz="1600" b="1" dirty="0"/>
          </a:p>
          <a:p>
            <a:pPr algn="l">
              <a:defRPr sz="1400"/>
            </a:pPr>
            <a:r>
              <a:rPr lang="en-US" sz="1600" b="1" dirty="0"/>
              <a:t>                  </a:t>
            </a:r>
            <a:r>
              <a:rPr sz="1600" b="1" dirty="0"/>
              <a:t>Indicates improved seasonal or promotional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69494-1D0E-C1C7-89D4-211E081BD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526" y="1975642"/>
            <a:ext cx="4480948" cy="214902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 of Profit by Sub-Category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0787" y="4312047"/>
            <a:ext cx="7523213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b="1" dirty="0"/>
          </a:p>
          <a:p>
            <a:pPr algn="l">
              <a:defRPr sz="1400"/>
            </a:pPr>
            <a:r>
              <a:rPr sz="1600" b="1" dirty="0"/>
              <a:t>• X-axis: Profit Amount</a:t>
            </a:r>
            <a:endParaRPr lang="en-US" sz="1600" b="1" dirty="0"/>
          </a:p>
          <a:p>
            <a:pPr algn="l">
              <a:defRPr sz="1400"/>
            </a:pPr>
            <a:br>
              <a:rPr sz="1600" b="1" dirty="0"/>
            </a:br>
            <a:r>
              <a:rPr sz="1600" b="1" dirty="0"/>
              <a:t>• Y-axis: Sub-Categories</a:t>
            </a:r>
            <a:endParaRPr lang="en-US" sz="1600" b="1" dirty="0"/>
          </a:p>
          <a:p>
            <a:pPr algn="l">
              <a:defRPr sz="1400"/>
            </a:pPr>
            <a:br>
              <a:rPr sz="1600" b="1" dirty="0"/>
            </a:br>
            <a:r>
              <a:rPr sz="1600" b="1" dirty="0"/>
              <a:t>• Insight: Printers generated the highest profit, while Stole recorded losses. </a:t>
            </a:r>
            <a:endParaRPr lang="en-US" sz="1600" b="1" dirty="0"/>
          </a:p>
          <a:p>
            <a:pPr algn="l">
              <a:defRPr sz="1400"/>
            </a:pPr>
            <a:r>
              <a:rPr lang="en-US" sz="1600" b="1" dirty="0"/>
              <a:t>                </a:t>
            </a:r>
            <a:r>
              <a:rPr sz="1600" b="1" dirty="0"/>
              <a:t>Product-level strategy can improve low-margin items.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9AE2A-C936-0C99-6B52-77AB9496F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163" y="2259405"/>
            <a:ext cx="4473328" cy="192802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 of Amount by Customer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5600" y="4237763"/>
            <a:ext cx="5978496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b="1" dirty="0"/>
          </a:p>
          <a:p>
            <a:pPr algn="l">
              <a:defRPr sz="1400"/>
            </a:pPr>
            <a:r>
              <a:rPr sz="1600" b="1" dirty="0"/>
              <a:t>• X-axis: Customer Name</a:t>
            </a:r>
            <a:endParaRPr lang="en-US" sz="1600" b="1" dirty="0"/>
          </a:p>
          <a:p>
            <a:pPr algn="l">
              <a:defRPr sz="1400"/>
            </a:pPr>
            <a:br>
              <a:rPr sz="1600" b="1" dirty="0"/>
            </a:br>
            <a:r>
              <a:rPr sz="1600" b="1" dirty="0"/>
              <a:t>• Y-axis: Total Sales Amount</a:t>
            </a:r>
            <a:endParaRPr lang="en-US" sz="1600" b="1" dirty="0"/>
          </a:p>
          <a:p>
            <a:pPr algn="l">
              <a:defRPr sz="1400"/>
            </a:pPr>
            <a:br>
              <a:rPr sz="1600" b="1" dirty="0"/>
            </a:br>
            <a:r>
              <a:rPr sz="1600" b="1" dirty="0"/>
              <a:t>• Insight: Aniket contributed the highest sales (~₹1000). </a:t>
            </a:r>
            <a:endParaRPr lang="en-US" sz="1600" b="1" dirty="0"/>
          </a:p>
          <a:p>
            <a:pPr algn="l">
              <a:defRPr sz="1400"/>
            </a:pPr>
            <a:r>
              <a:rPr lang="en-US" sz="1600" b="1" dirty="0"/>
              <a:t>                  </a:t>
            </a:r>
            <a:r>
              <a:rPr sz="1600" b="1" dirty="0"/>
              <a:t>Indicates potential for loyalty programs for top customers.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E2AC1-F7D3-D010-D0AC-87C1A55D1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729" y="1875118"/>
            <a:ext cx="2796782" cy="190516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 of Quantity by Payment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4508" y="4138708"/>
            <a:ext cx="649498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b="1" dirty="0"/>
          </a:p>
          <a:p>
            <a:pPr algn="l">
              <a:defRPr sz="1400"/>
            </a:pPr>
            <a:r>
              <a:rPr sz="1600" b="1" dirty="0"/>
              <a:t>• Each slice represents a payment mode.</a:t>
            </a:r>
            <a:endParaRPr lang="en-US" sz="1600" b="1" dirty="0"/>
          </a:p>
          <a:p>
            <a:pPr algn="just">
              <a:defRPr sz="1400"/>
            </a:pPr>
            <a:br>
              <a:rPr sz="1600" b="1" dirty="0"/>
            </a:br>
            <a:r>
              <a:rPr sz="1600" b="1" dirty="0"/>
              <a:t>• Insight: Debit Card (46%) is the most used payment method, followed by</a:t>
            </a:r>
            <a:endParaRPr lang="en-US" sz="1600" b="1" dirty="0"/>
          </a:p>
          <a:p>
            <a:pPr algn="l">
              <a:defRPr sz="1400"/>
            </a:pPr>
            <a:r>
              <a:rPr lang="en-US" sz="1600" b="1" dirty="0"/>
              <a:t>                </a:t>
            </a:r>
            <a:r>
              <a:rPr sz="1600" b="1" dirty="0"/>
              <a:t> UPI (32%) and COD (22%). Shows digital payment preference.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BB693-56B9-238E-21B5-1B7DAC4D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814" y="1928463"/>
            <a:ext cx="2438611" cy="185182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FE96D1-3CD0-C537-B60B-1C95140B6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8800" dirty="0"/>
          </a:p>
          <a:p>
            <a:pPr marL="0" indent="0" algn="ctr">
              <a:buNone/>
            </a:pPr>
            <a:r>
              <a:rPr lang="en-US" sz="8800" dirty="0"/>
              <a:t>Thank You</a:t>
            </a:r>
            <a:endParaRPr lang="en-IN" sz="88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</TotalTime>
  <Words>350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 (Body)</vt:lpstr>
      <vt:lpstr>Century Gothic</vt:lpstr>
      <vt:lpstr>Times New Roman</vt:lpstr>
      <vt:lpstr>Wingdings 3</vt:lpstr>
      <vt:lpstr>Wisp</vt:lpstr>
      <vt:lpstr>Ecommerce Sales Dashboard</vt:lpstr>
      <vt:lpstr>PowerPoint Presentation</vt:lpstr>
      <vt:lpstr>PowerPoint Presentation</vt:lpstr>
      <vt:lpstr>Filters and Segmentation</vt:lpstr>
      <vt:lpstr>Sum of Amount by State</vt:lpstr>
      <vt:lpstr>Sum of Quantity by Category</vt:lpstr>
      <vt:lpstr>Profit by Month</vt:lpstr>
      <vt:lpstr>Sum of Profit by Sub-Category</vt:lpstr>
      <vt:lpstr>Sum of Amount by Customer Name</vt:lpstr>
      <vt:lpstr>Sum of Quantity by Payment Mode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utkarsha khachane</cp:lastModifiedBy>
  <cp:revision>3</cp:revision>
  <dcterms:created xsi:type="dcterms:W3CDTF">2013-01-27T09:14:16Z</dcterms:created>
  <dcterms:modified xsi:type="dcterms:W3CDTF">2025-10-18T06:40:31Z</dcterms:modified>
  <cp:category/>
</cp:coreProperties>
</file>